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747775"/>
          </p15:clr>
        </p15:guide>
        <p15:guide id="2" pos="102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509" y="-3211"/>
      </p:cViewPr>
      <p:guideLst>
        <p:guide orient="horz" pos="13606"/>
        <p:guide pos="10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447" y="685800"/>
            <a:ext cx="257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04478" y="6253648"/>
            <a:ext cx="30191100" cy="17239800"/>
          </a:xfrm>
          <a:prstGeom prst="rect">
            <a:avLst/>
          </a:prstGeom>
        </p:spPr>
        <p:txBody>
          <a:bodyPr spcFirstLastPara="1" wrap="square" lIns="471925" tIns="471925" rIns="471925" bIns="471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1pPr>
            <a:lvl2pPr lvl="1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2pPr>
            <a:lvl3pPr lvl="2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3pPr>
            <a:lvl4pPr lvl="3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4pPr>
            <a:lvl5pPr lvl="4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5pPr>
            <a:lvl6pPr lvl="5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6pPr>
            <a:lvl7pPr lvl="6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7pPr>
            <a:lvl8pPr lvl="7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8pPr>
            <a:lvl9pPr lvl="8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04449" y="23803675"/>
            <a:ext cx="30191100" cy="66570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104449" y="9679580"/>
            <a:ext cx="30191100" cy="286941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818600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marL="914400" lvl="1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marL="1371600" lvl="2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marL="1828800" lvl="3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marL="2286000" lvl="4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marL="2743200" lvl="5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marL="3200400" lvl="6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marL="3657600" lvl="7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marL="4114800" lvl="8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104449" y="9679580"/>
            <a:ext cx="14172900" cy="286941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1pPr>
            <a:lvl2pPr marL="914400" lvl="1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marL="1371600" lvl="2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marL="1828800" lvl="3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marL="2286000" lvl="4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marL="2743200" lvl="5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marL="3200400" lvl="6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marL="3657600" lvl="7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marL="4114800" lvl="8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7122677" y="9679580"/>
            <a:ext cx="14172900" cy="286941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1pPr>
            <a:lvl2pPr marL="914400" lvl="1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marL="1371600" lvl="2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marL="1828800" lvl="3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marL="2286000" lvl="4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marL="2743200" lvl="5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marL="3200400" lvl="6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marL="3657600" lvl="7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marL="4114800" lvl="8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104449" y="4666457"/>
            <a:ext cx="9949500" cy="6347100"/>
          </a:xfrm>
          <a:prstGeom prst="rect">
            <a:avLst/>
          </a:prstGeom>
        </p:spPr>
        <p:txBody>
          <a:bodyPr spcFirstLastPara="1" wrap="square" lIns="471925" tIns="471925" rIns="471925" bIns="471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1pPr>
            <a:lvl2pPr lvl="1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2pPr>
            <a:lvl3pPr lvl="2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3pPr>
            <a:lvl4pPr lvl="3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4pPr>
            <a:lvl5pPr lvl="4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5pPr>
            <a:lvl6pPr lvl="5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6pPr>
            <a:lvl7pPr lvl="6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7pPr>
            <a:lvl8pPr lvl="7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8pPr>
            <a:lvl9pPr lvl="8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104449" y="11671181"/>
            <a:ext cx="9949500" cy="267036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1pPr>
            <a:lvl2pPr marL="914400" lvl="1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marL="1371600" lvl="2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marL="1828800" lvl="3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marL="2286000" lvl="4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marL="2743200" lvl="5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marL="3200400" lvl="6" indent="-621934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marL="3657600" lvl="7" indent="-621934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marL="4114800" lvl="8" indent="-621934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737106" y="3780787"/>
            <a:ext cx="22563000" cy="343584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1pPr>
            <a:lvl2pPr lvl="1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2pPr>
            <a:lvl3pPr lvl="2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3pPr>
            <a:lvl4pPr lvl="3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4pPr>
            <a:lvl5pPr lvl="4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5pPr>
            <a:lvl6pPr lvl="5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6pPr>
            <a:lvl7pPr lvl="6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7pPr>
            <a:lvl8pPr lvl="7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8pPr>
            <a:lvl9pPr lvl="8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200000" y="-1050"/>
            <a:ext cx="16200000" cy="432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71925" tIns="471925" rIns="471925" bIns="471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40748" y="10357375"/>
            <a:ext cx="14333400" cy="12449700"/>
          </a:xfrm>
          <a:prstGeom prst="rect">
            <a:avLst/>
          </a:prstGeom>
        </p:spPr>
        <p:txBody>
          <a:bodyPr spcFirstLastPara="1" wrap="square" lIns="471925" tIns="471925" rIns="471925" bIns="471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1pPr>
            <a:lvl2pPr lvl="1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2pPr>
            <a:lvl3pPr lvl="2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3pPr>
            <a:lvl4pPr lvl="3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4pPr>
            <a:lvl5pPr lvl="4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5pPr>
            <a:lvl6pPr lvl="5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6pPr>
            <a:lvl7pPr lvl="6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7pPr>
            <a:lvl8pPr lvl="7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8pPr>
            <a:lvl9pPr lvl="8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940748" y="23542887"/>
            <a:ext cx="14333400" cy="103734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7502165" y="6081470"/>
            <a:ext cx="13595700" cy="310350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marL="457200" lvl="0" indent="-818600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marL="914400" lvl="1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marL="1371600" lvl="2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marL="1828800" lvl="3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marL="2286000" lvl="4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marL="2743200" lvl="5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marL="3200400" lvl="6" indent="-687489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marL="3657600" lvl="7" indent="-687489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marL="4114800" lvl="8" indent="-687489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104449" y="35532388"/>
            <a:ext cx="21255600" cy="50823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91"/>
              <a:buNone/>
              <a:defRPr sz="9291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104449" y="9290289"/>
            <a:ext cx="30191100" cy="16491300"/>
          </a:xfrm>
          <a:prstGeom prst="rect">
            <a:avLst/>
          </a:prstGeom>
        </p:spPr>
        <p:txBody>
          <a:bodyPr spcFirstLastPara="1" wrap="square" lIns="471925" tIns="471925" rIns="471925" bIns="471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1pPr>
            <a:lvl2pPr lvl="1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2pPr>
            <a:lvl3pPr lvl="2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3pPr>
            <a:lvl4pPr lvl="3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4pPr>
            <a:lvl5pPr lvl="4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5pPr>
            <a:lvl6pPr lvl="5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6pPr>
            <a:lvl7pPr lvl="6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7pPr>
            <a:lvl8pPr lvl="7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8pPr>
            <a:lvl9pPr lvl="8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104449" y="26475381"/>
            <a:ext cx="30191100" cy="10925400"/>
          </a:xfrm>
          <a:prstGeom prst="rect">
            <a:avLst/>
          </a:prstGeom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818600" algn="ctr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marL="914400" lvl="1" indent="-687489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marL="1371600" lvl="2" indent="-687489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marL="1828800" lvl="3" indent="-687489" algn="ctr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marL="2286000" lvl="4" indent="-687489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marL="2743200" lvl="5" indent="-687489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marL="3200400" lvl="6" indent="-687489" algn="ctr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marL="3657600" lvl="7" indent="-687489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marL="4114800" lvl="8" indent="-687489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1925" tIns="471925" rIns="471925" bIns="471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04449" y="9679580"/>
            <a:ext cx="30191100" cy="286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1925" tIns="471925" rIns="471925" bIns="471925" anchor="t" anchorCtr="0">
            <a:normAutofit/>
          </a:bodyPr>
          <a:lstStyle>
            <a:lvl1pPr marL="457200" lvl="0" indent="-81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291"/>
              <a:buChar char="●"/>
              <a:defRPr sz="9291">
                <a:solidFill>
                  <a:schemeClr val="dk2"/>
                </a:solidFill>
              </a:defRPr>
            </a:lvl1pPr>
            <a:lvl2pPr marL="914400" lvl="1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2pPr>
            <a:lvl3pPr marL="1371600" lvl="2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3pPr>
            <a:lvl4pPr marL="1828800" lvl="3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●"/>
              <a:defRPr sz="7227">
                <a:solidFill>
                  <a:schemeClr val="dk2"/>
                </a:solidFill>
              </a:defRPr>
            </a:lvl4pPr>
            <a:lvl5pPr marL="2286000" lvl="4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5pPr>
            <a:lvl6pPr marL="2743200" lvl="5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6pPr>
            <a:lvl7pPr marL="3200400" lvl="6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●"/>
              <a:defRPr sz="7227">
                <a:solidFill>
                  <a:schemeClr val="dk2"/>
                </a:solidFill>
              </a:defRPr>
            </a:lvl7pPr>
            <a:lvl8pPr marL="3657600" lvl="7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8pPr>
            <a:lvl9pPr marL="4114800" lvl="8" indent="-6874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1925" tIns="471925" rIns="471925" bIns="471925" anchor="ctr" anchorCtr="0">
            <a:normAutofit/>
          </a:bodyPr>
          <a:lstStyle>
            <a:lvl1pPr lvl="0" algn="r">
              <a:buNone/>
              <a:defRPr sz="5162">
                <a:solidFill>
                  <a:schemeClr val="dk2"/>
                </a:solidFill>
              </a:defRPr>
            </a:lvl1pPr>
            <a:lvl2pPr lvl="1" algn="r">
              <a:buNone/>
              <a:defRPr sz="5162">
                <a:solidFill>
                  <a:schemeClr val="dk2"/>
                </a:solidFill>
              </a:defRPr>
            </a:lvl2pPr>
            <a:lvl3pPr lvl="2" algn="r">
              <a:buNone/>
              <a:defRPr sz="5162">
                <a:solidFill>
                  <a:schemeClr val="dk2"/>
                </a:solidFill>
              </a:defRPr>
            </a:lvl3pPr>
            <a:lvl4pPr lvl="3" algn="r">
              <a:buNone/>
              <a:defRPr sz="5162">
                <a:solidFill>
                  <a:schemeClr val="dk2"/>
                </a:solidFill>
              </a:defRPr>
            </a:lvl4pPr>
            <a:lvl5pPr lvl="4" algn="r">
              <a:buNone/>
              <a:defRPr sz="5162">
                <a:solidFill>
                  <a:schemeClr val="dk2"/>
                </a:solidFill>
              </a:defRPr>
            </a:lvl5pPr>
            <a:lvl6pPr lvl="5" algn="r">
              <a:buNone/>
              <a:defRPr sz="5162">
                <a:solidFill>
                  <a:schemeClr val="dk2"/>
                </a:solidFill>
              </a:defRPr>
            </a:lvl6pPr>
            <a:lvl7pPr lvl="6" algn="r">
              <a:buNone/>
              <a:defRPr sz="5162">
                <a:solidFill>
                  <a:schemeClr val="dk2"/>
                </a:solidFill>
              </a:defRPr>
            </a:lvl7pPr>
            <a:lvl8pPr lvl="7" algn="r">
              <a:buNone/>
              <a:defRPr sz="5162">
                <a:solidFill>
                  <a:schemeClr val="dk2"/>
                </a:solidFill>
              </a:defRPr>
            </a:lvl8pPr>
            <a:lvl9pPr lvl="8" algn="r">
              <a:buNone/>
              <a:defRPr sz="5162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dadosabertos.saude.gov.br/dataset/si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14marcos1/pibicjr/blob/main/SIA_2026_HIV_HEPATITES.ipynb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fapemi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1367" y="39512701"/>
            <a:ext cx="2296625" cy="22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8493667" y="7715726"/>
            <a:ext cx="15890333" cy="21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dirty="0">
                <a:solidFill>
                  <a:srgbClr val="595959"/>
                </a:solidFill>
              </a:rPr>
              <a:t>Uso do </a:t>
            </a:r>
            <a:r>
              <a:rPr lang="pt-BR" sz="5000" b="1" dirty="0" err="1">
                <a:solidFill>
                  <a:srgbClr val="595959"/>
                </a:solidFill>
              </a:rPr>
              <a:t>Kaglle</a:t>
            </a:r>
            <a:r>
              <a:rPr lang="pt-BR" sz="5000" b="1" dirty="0">
                <a:solidFill>
                  <a:srgbClr val="595959"/>
                </a:solidFill>
              </a:rPr>
              <a:t> e da linguagem Python na </a:t>
            </a:r>
            <a:r>
              <a:rPr lang="pt-BR" sz="5000" b="1" dirty="0" err="1">
                <a:solidFill>
                  <a:srgbClr val="595959"/>
                </a:solidFill>
              </a:rPr>
              <a:t>ánalie</a:t>
            </a:r>
            <a:r>
              <a:rPr lang="pt-BR" sz="5000" b="1" dirty="0">
                <a:solidFill>
                  <a:srgbClr val="595959"/>
                </a:solidFill>
              </a:rPr>
              <a:t> da mortalidade por </a:t>
            </a:r>
            <a:r>
              <a:rPr lang="pt-BR" sz="5000" b="1" dirty="0" err="1">
                <a:solidFill>
                  <a:srgbClr val="595959"/>
                </a:solidFill>
              </a:rPr>
              <a:t>hepatitte</a:t>
            </a:r>
            <a:r>
              <a:rPr lang="pt-BR" sz="5000" b="1" dirty="0">
                <a:solidFill>
                  <a:srgbClr val="595959"/>
                </a:solidFill>
              </a:rPr>
              <a:t> Be HIV/aids no Brasil</a:t>
            </a:r>
            <a:endParaRPr sz="5000" b="1" dirty="0">
              <a:solidFill>
                <a:srgbClr val="595959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0611961" y="9931181"/>
            <a:ext cx="10911000" cy="21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Maria Eduarda Batista da Silva</a:t>
            </a:r>
          </a:p>
          <a:p>
            <a:pPr algn="ctr"/>
            <a:r>
              <a:rPr lang="pt-BR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Amanda Correia Leite (Colaborador)</a:t>
            </a:r>
          </a:p>
          <a:p>
            <a:pPr algn="ctr"/>
            <a:r>
              <a:rPr lang="pt-BR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Isabela Pimenta Guimaraes Menezes (Colaborador)</a:t>
            </a:r>
          </a:p>
          <a:p>
            <a:pPr algn="ctr"/>
            <a:r>
              <a:rPr lang="pt-BR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Marcelo Vieira Filho (Colaborador)</a:t>
            </a:r>
          </a:p>
          <a:p>
            <a:pPr algn="ctr"/>
            <a:r>
              <a:rPr lang="pt-BR" sz="3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Náthaly</a:t>
            </a:r>
            <a:r>
              <a:rPr lang="pt-BR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 Silva Xavier (Colaborador)</a:t>
            </a:r>
          </a:p>
          <a:p>
            <a:pPr algn="ctr"/>
            <a:r>
              <a:rPr lang="pt-BR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Marcos Rodrigo de Oliveira (Orientador)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ODS Categoria 3</a:t>
            </a:r>
            <a:endParaRPr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2698529" y="37991086"/>
            <a:ext cx="12342300" cy="1412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/>
              <a:t>APOIO FINANCEIRO </a:t>
            </a:r>
            <a:endParaRPr sz="4000" b="1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B8CB2B-E7D6-C6EF-2BAE-AEF2637EEB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11"/>
          <a:stretch>
            <a:fillRect/>
          </a:stretch>
        </p:blipFill>
        <p:spPr>
          <a:xfrm>
            <a:off x="16872283" y="27513832"/>
            <a:ext cx="13330573" cy="4975000"/>
          </a:xfrm>
          <a:prstGeom prst="rect">
            <a:avLst/>
          </a:prstGeom>
        </p:spPr>
      </p:pic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9E07F1E2-7809-64B7-A571-77AF59BFC7F7}"/>
              </a:ext>
            </a:extLst>
          </p:cNvPr>
          <p:cNvSpPr/>
          <p:nvPr/>
        </p:nvSpPr>
        <p:spPr>
          <a:xfrm>
            <a:off x="1584960" y="14031685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chemeClr val="tx1"/>
                </a:solidFill>
                <a:latin typeface="Calibri"/>
              </a:rPr>
              <a:t>INTRODUÇÃO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F743A5-444E-97D3-ED76-0EBE140DCC36}"/>
              </a:ext>
            </a:extLst>
          </p:cNvPr>
          <p:cNvSpPr txBox="1"/>
          <p:nvPr/>
        </p:nvSpPr>
        <p:spPr>
          <a:xfrm>
            <a:off x="1584960" y="15266125"/>
            <a:ext cx="13716000" cy="8365367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just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O Sistema de Informações sobre Mortalidade (SIM), disponibilizado pelo Departamento de Informática do Sistema Único de Saúde (DATASUS), constitui uma importante fonte de dados para investigar tendências de mortalidade e desigualdades regionais no Brasil (BRASIL, 2026). Entretanto, a utilização desses registros exige padronização, classificação das causas de óbito e avaliação da qualidade das informações, considerando possíveis diferenças de cobertura e completude entre regiões (LIMA et al., 2009; SZWARCWALD et al., 2014). Nesse contexto, a linguagem Python, associada a plataformas gratuitas de computação em nuvem, como o </a:t>
            </a:r>
            <a:r>
              <a:rPr lang="pt-B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Kaggle</a:t>
            </a:r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, possibilita automatizar a extração, o processamento e a visualização de dados epidemiológicos. Essa abordagem favorece análises rápidas, rastreáveis e reprodutíveis, ampliando as possibilidades de aplicação dos dados públicos no ensino e na pesquisa em saúde.</a:t>
            </a:r>
          </a:p>
          <a:p>
            <a:pPr algn="just"/>
            <a:endParaRPr lang="pt-BR" sz="3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653D82FA-B259-26A3-D348-87732DF2A6B8}"/>
              </a:ext>
            </a:extLst>
          </p:cNvPr>
          <p:cNvSpPr/>
          <p:nvPr/>
        </p:nvSpPr>
        <p:spPr>
          <a:xfrm>
            <a:off x="1808480" y="24315614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chemeClr val="tx1"/>
                </a:solidFill>
                <a:latin typeface="Calibri"/>
              </a:rPr>
              <a:t>OBJETIVOS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EE3429-9FE7-13DD-93D0-0B30EE34DD24}"/>
              </a:ext>
            </a:extLst>
          </p:cNvPr>
          <p:cNvSpPr txBox="1"/>
          <p:nvPr/>
        </p:nvSpPr>
        <p:spPr>
          <a:xfrm>
            <a:off x="1808480" y="25550054"/>
            <a:ext cx="13716000" cy="1717393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just">
              <a:spcAft>
                <a:spcPts val="700"/>
              </a:spcAft>
            </a:pPr>
            <a:r>
              <a:rPr lang="pt-BR" sz="3600" b="0" noProof="0" dirty="0">
                <a:solidFill>
                  <a:schemeClr val="tx1"/>
                </a:solidFill>
                <a:latin typeface="Calibri"/>
              </a:rPr>
              <a:t>Desenvolver e demonstrar um fluxo de análise no </a:t>
            </a:r>
            <a:r>
              <a:rPr lang="pt-BR" sz="3600" b="0" noProof="0" dirty="0" err="1">
                <a:solidFill>
                  <a:schemeClr val="tx1"/>
                </a:solidFill>
                <a:latin typeface="Calibri"/>
              </a:rPr>
              <a:t>Kaggle</a:t>
            </a:r>
            <a:r>
              <a:rPr lang="pt-BR" sz="3600" b="0" noProof="0" dirty="0">
                <a:solidFill>
                  <a:schemeClr val="tx1"/>
                </a:solidFill>
                <a:latin typeface="Calibri"/>
              </a:rPr>
              <a:t>, utilizando Python, para obter, organizar e representar os óbitos por hepatite B e HIV/aids nas unidades federativas brasileiras, entre 2010 e 2024.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E5F5D05B-7A35-1FF2-FCE4-5A72A4B9FE2C}"/>
              </a:ext>
            </a:extLst>
          </p:cNvPr>
          <p:cNvSpPr/>
          <p:nvPr/>
        </p:nvSpPr>
        <p:spPr>
          <a:xfrm>
            <a:off x="2011680" y="28923174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chemeClr val="tx1"/>
                </a:solidFill>
                <a:latin typeface="Calibri"/>
              </a:rPr>
              <a:t>MATERIAL E MÉTODOS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C507339-F530-099C-EE10-26DEE355164F}"/>
              </a:ext>
            </a:extLst>
          </p:cNvPr>
          <p:cNvSpPr txBox="1"/>
          <p:nvPr/>
        </p:nvSpPr>
        <p:spPr>
          <a:xfrm>
            <a:off x="2011680" y="30157614"/>
            <a:ext cx="13716000" cy="6703374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just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Estudo epidemiológico descritivo, ecológico e retrospectivo, com análise de série temporal (2010–2024), utilizando dados secundários do SIM/DATASUS. Os registros foram obtidos por unidade federativa (UF), considerando a causa básica de óbito: hepatite B (B16, B17.0, B18.0 e B18.1) e HIV/aids (B20–B24). Os scripts em Python foram desenvolvidos com auxílio da inteligência artificial generativa </a:t>
            </a:r>
            <a:r>
              <a:rPr lang="pt-BR" sz="3600" b="1" dirty="0">
                <a:latin typeface="Calibri" panose="020F0502020204030204" pitchFamily="34" charset="0"/>
                <a:cs typeface="Calibri" panose="020F0502020204030204" pitchFamily="34" charset="0"/>
              </a:rPr>
              <a:t>Gemini (Google)</a:t>
            </a:r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, para conversão de arquivos DBC/DBF, agrupamento dos óbitos e elaboração de gráficos. Os códigos e resultados foram submetidos à conferência pelos pesquisadores. Foram utilizadas as bibliotecas pandas, </a:t>
            </a:r>
            <a:r>
              <a:rPr lang="pt-B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McKINNEY</a:t>
            </a:r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, 2010; HARRIS et al., 2020). Os resultados expressam números absolutos de óbitos, sem padronização populacional.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A8E1D95D-F826-1EA6-F7A8-91A9C41A89E2}"/>
              </a:ext>
            </a:extLst>
          </p:cNvPr>
          <p:cNvSpPr/>
          <p:nvPr/>
        </p:nvSpPr>
        <p:spPr>
          <a:xfrm>
            <a:off x="16687800" y="14081760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chemeClr val="tx1"/>
                </a:solidFill>
                <a:latin typeface="Calibri"/>
              </a:rPr>
              <a:t>RESULTADOS E AÇÕES DESENVOLVIDAS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B8DF331-F4DB-F85A-DF0A-A776C3C6D3C8}"/>
              </a:ext>
            </a:extLst>
          </p:cNvPr>
          <p:cNvSpPr txBox="1"/>
          <p:nvPr/>
        </p:nvSpPr>
        <p:spPr>
          <a:xfrm>
            <a:off x="16687800" y="15270480"/>
            <a:ext cx="13716000" cy="12243352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just"/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análise epidemiológica ecológica, descritiva e retrospectiva, com abordagem de série temporal (2010–2024), evidenciou diferenças regionais nos óbitos por HIV/aids e hepatite B. Para HIV/aids, observou-se redução no Sudeste e Sul e aumento no Norte e Nordeste. Para hepatite B, predominou a redução dos óbitos, com variações entre estados. Na figura 1 é possível observar os dados da região sudeste.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principal resultado metodológico, foi desenvolvido um </a:t>
            </a:r>
            <a:r>
              <a:rPr lang="pt-B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pipeline automatizado em Python, executado na plataforma </a:t>
            </a:r>
            <a:r>
              <a:rPr lang="pt-BR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Kaggle</a:t>
            </a:r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que permitiu extrair diretamente os arquivos oficiais do SIM/DATASUS, organizar os registros das 27 unidades federativas e gerar tabelas e gráficos comparativos. A automatização agilizou o processamento dos dados, reduziu intervenções manuais e favoreceu a rastreabilidade, a reprodutibilidade e a atualização das análises. Os resultados demonstram a aplicabilidade de ferramentas gratuitas na investigação epidemiológica e na identificação de desigualdades regionais em saúde pública. Os resultados de todas as </a:t>
            </a:r>
            <a:r>
              <a:rPr lang="pt-BR" sz="3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UFs</a:t>
            </a:r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podem ser consultada e utilizadas a partir do Github: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https://github.com/14marcos1/pibicjr/blob/main/SIA_2026_HIV_HEPATITES.ipynb</a:t>
            </a:r>
            <a:r>
              <a:rPr lang="pt-BR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pt-BR" sz="3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3600" dirty="0">
                <a:latin typeface="Calibri" panose="020F0502020204030204" pitchFamily="34" charset="0"/>
                <a:cs typeface="Calibri" panose="020F0502020204030204" pitchFamily="34" charset="0"/>
              </a:rPr>
              <a:t>Figura 1 – Evolução relativa do número de óbitos por hepatite B e HIV/aids nos estados da região Sudeste do Brasil, entre 2010 e 2024.</a:t>
            </a:r>
            <a:endParaRPr lang="pt-BR" sz="3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9A54A0-2B79-8E61-4B95-6C62A4E682CE}"/>
              </a:ext>
            </a:extLst>
          </p:cNvPr>
          <p:cNvSpPr txBox="1"/>
          <p:nvPr/>
        </p:nvSpPr>
        <p:spPr>
          <a:xfrm>
            <a:off x="16486856" y="32848776"/>
            <a:ext cx="13716000" cy="1097280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2300" b="0" noProof="0" dirty="0">
                <a:solidFill>
                  <a:srgbClr val="4C5260"/>
                </a:solidFill>
                <a:latin typeface="Calibri"/>
              </a:rPr>
              <a:t>Fonte dos gráficos: SIM/DATASUS; processamento próprio em Python. Comparação de números absolutos.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656429CB-CA00-E312-5695-03204D4E783C}"/>
              </a:ext>
            </a:extLst>
          </p:cNvPr>
          <p:cNvSpPr/>
          <p:nvPr/>
        </p:nvSpPr>
        <p:spPr>
          <a:xfrm>
            <a:off x="16486856" y="32909736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rgbClr val="6E3EBA"/>
                </a:solidFill>
                <a:latin typeface="Calibri"/>
              </a:rPr>
              <a:t>CONCLUSÕES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482EBB1-F42F-9C65-8484-FC6C3D8361E5}"/>
              </a:ext>
            </a:extLst>
          </p:cNvPr>
          <p:cNvSpPr txBox="1"/>
          <p:nvPr/>
        </p:nvSpPr>
        <p:spPr>
          <a:xfrm>
            <a:off x="16486856" y="34153320"/>
            <a:ext cx="13716000" cy="3379387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 algn="just">
              <a:spcAft>
                <a:spcPts val="700"/>
              </a:spcAft>
            </a:pPr>
            <a:r>
              <a:rPr lang="pt-BR" sz="3600" b="0" noProof="0" dirty="0">
                <a:solidFill>
                  <a:schemeClr val="tx1"/>
                </a:solidFill>
                <a:latin typeface="Calibri"/>
              </a:rPr>
              <a:t>O fluxo de trabalho permitiu sistematizar arquivos do SIM e visualizar diferenças regionais entre 2010 e 2024. A análise demonstrou a utilidade didática do </a:t>
            </a:r>
            <a:r>
              <a:rPr lang="pt-BR" sz="3600" b="0" noProof="0" dirty="0" err="1">
                <a:solidFill>
                  <a:schemeClr val="tx1"/>
                </a:solidFill>
                <a:latin typeface="Calibri"/>
              </a:rPr>
              <a:t>Kaggle</a:t>
            </a:r>
            <a:r>
              <a:rPr lang="pt-BR" sz="3600" b="0" noProof="0" dirty="0">
                <a:solidFill>
                  <a:schemeClr val="tx1"/>
                </a:solidFill>
                <a:latin typeface="Calibri"/>
              </a:rPr>
              <a:t> e do Python para pesquisa reprodutível em saúde pública. As variações nas contagens não representam, isoladamente, mudança no risco de morte: recomenda-se calcular taxas e avaliar a qualidade dos registros antes de interpretar tendências epidemiológicas.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5FFAD28C-428E-AA90-4339-F50F3A621CA3}"/>
              </a:ext>
            </a:extLst>
          </p:cNvPr>
          <p:cNvSpPr/>
          <p:nvPr/>
        </p:nvSpPr>
        <p:spPr>
          <a:xfrm>
            <a:off x="16560800" y="37825680"/>
            <a:ext cx="13716000" cy="1024128"/>
          </a:xfrm>
          <a:prstGeom prst="roundRect">
            <a:avLst/>
          </a:prstGeom>
          <a:solidFill>
            <a:srgbClr val="F8F5FD"/>
          </a:solidFill>
          <a:ln w="27940">
            <a:solidFill>
              <a:srgbClr val="6E3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lang="pt-BR" sz="3300" b="1" noProof="0" dirty="0">
                <a:solidFill>
                  <a:srgbClr val="6E3EBA"/>
                </a:solidFill>
                <a:latin typeface="Calibri"/>
              </a:rPr>
              <a:t>REFERÊNCIAS BIBLIOGRÁFICAS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C408682-D400-E137-292A-89767D023646}"/>
              </a:ext>
            </a:extLst>
          </p:cNvPr>
          <p:cNvSpPr txBox="1"/>
          <p:nvPr/>
        </p:nvSpPr>
        <p:spPr>
          <a:xfrm>
            <a:off x="16560800" y="38981888"/>
            <a:ext cx="13716000" cy="3133165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r>
              <a:rPr lang="pt-BR" sz="2000" b="0" noProof="0" dirty="0">
                <a:solidFill>
                  <a:srgbClr val="2531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BRASIL. Ministério da Saúde. Sistema de Informação sobre Mortalidade (SIM). Portal de Dados Abertos do SUS. Disponível em: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https://dadosabertos.saude.gov.br/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dataset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/sim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. Acesso em: 9 out. 2026.</a:t>
            </a:r>
          </a:p>
          <a:p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2. LIMA, C. R. A. et al. Revisão das dimensões de qualidade dos dados e métodos aplicados na avaliação dos sistemas de informação em saúde. </a:t>
            </a:r>
            <a:r>
              <a:rPr lang="pt-BR" sz="2000" i="1" dirty="0">
                <a:latin typeface="Calibri" panose="020F0502020204030204" pitchFamily="34" charset="0"/>
                <a:cs typeface="Calibri" panose="020F0502020204030204" pitchFamily="34" charset="0"/>
              </a:rPr>
              <a:t>Cadernos de Saúde Pública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, v. 25, n. 10, p. 2095–2109, 2009. DOI: 10.1590/S0102-311X2009001000002.</a:t>
            </a:r>
          </a:p>
          <a:p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3. SZWARCWALD, C. L. et al.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Correction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vital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statistics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proactive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deaths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live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births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evidence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study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North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Northeast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regions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Brazil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pt-BR" sz="2000" i="1" dirty="0">
                <a:latin typeface="Calibri" panose="020F0502020204030204" pitchFamily="34" charset="0"/>
                <a:cs typeface="Calibri" panose="020F0502020204030204" pitchFamily="34" charset="0"/>
              </a:rPr>
              <a:t> Health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Metrics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, v. 12, artigo 16, 2014. DOI: 10.1186/1478-7954-12-16.</a:t>
            </a:r>
          </a:p>
          <a:p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McKINNEY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, W. Data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structures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statistical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computing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in Python.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Proceedings</a:t>
            </a:r>
            <a:r>
              <a:rPr lang="pt-BR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pt-BR" sz="2000" i="1" dirty="0">
                <a:latin typeface="Calibri" panose="020F0502020204030204" pitchFamily="34" charset="0"/>
                <a:cs typeface="Calibri" panose="020F0502020204030204" pitchFamily="34" charset="0"/>
              </a:rPr>
              <a:t> 9th Python in Science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Conference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, p. 56–61, 2010. DOI: 10.25080/MAJORA-92BF1922-00A.</a:t>
            </a:r>
          </a:p>
          <a:p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5. HARRIS, C. R. et al.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programming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, v. 585, p. 357–362, 2020. DOI: 10.1038/s41586-020-2649-2.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941</Words>
  <Application>Microsoft Office PowerPoint</Application>
  <PresentationFormat>Personalizar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VAIO</dc:creator>
  <cp:lastModifiedBy>VAIO</cp:lastModifiedBy>
  <cp:revision>7</cp:revision>
  <dcterms:modified xsi:type="dcterms:W3CDTF">2026-10-09T20:38:19Z</dcterms:modified>
</cp:coreProperties>
</file>